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1" r:id="rId5"/>
    <p:sldId id="262" r:id="rId6"/>
    <p:sldId id="263" r:id="rId7"/>
    <p:sldId id="264" r:id="rId8"/>
    <p:sldId id="271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691BEDA-5735-4304-AF56-8F2D4FA614E8}">
          <p14:sldIdLst>
            <p14:sldId id="256"/>
            <p14:sldId id="258"/>
            <p14:sldId id="257"/>
          </p14:sldIdLst>
        </p14:section>
        <p14:section name="Data Manipulation,Cleaning,EDA @ Reporting" id="{2CF09281-575C-4316-BC3E-AEB64C18ABDF}">
          <p14:sldIdLst>
            <p14:sldId id="261"/>
            <p14:sldId id="262"/>
            <p14:sldId id="263"/>
            <p14:sldId id="264"/>
          </p14:sldIdLst>
        </p14:section>
        <p14:section name="Reccomendation and Summary" id="{5CE6F034-4E8B-493F-8AD7-9E873603CC21}">
          <p14:sldIdLst>
            <p14:sldId id="271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BE7"/>
    <a:srgbClr val="B6B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FD0F-2D8B-9943-44CB-41A8B47A7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68224-C7D8-FD40-D730-817B526DC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CCA33-335A-74E3-2DEB-F48957EE1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92850-4521-764C-6D01-2BCF1160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801FC-4C46-2111-F51B-572BD6C9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72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2D166-87BA-2C5C-6B04-55EBF085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C6C75-FF56-1931-B055-342D1C55E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894BB-3C7A-EFC1-01B7-453307AD1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22782-231F-2D77-C79C-EB2B7DADA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272AC-22DF-EA41-001D-BAA9AF67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52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6DFBC-D59C-0FCA-8F4D-3F491D37D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3DD-84CF-5B7C-EE98-72D9C02F5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D3BF3-19C4-6F6C-7510-6D95928B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41C94-4081-37EB-7B7C-53E25F8A1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D6C57-998B-3AF8-6E1E-6C4018C56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8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F659-1004-53BF-FA88-3D33D131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EA792-DE26-F8AB-7288-5DB65C4E3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68519-89B2-8B8D-6A7F-878BBA8B4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8A858-FC66-8E52-A20F-29FC36A46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C7F92-5A59-D714-A8D0-B9273448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8B52F-0D3F-D81F-3FA1-F0560AEF0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34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6A5C-193B-231F-2F30-A3E34E70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C4FB7-F80B-A3B0-45D5-730E66D35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F719D-31FC-195A-1A7D-49AC8BDEE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4ED480-2961-E2F8-EAC3-BA268E7C4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C79F76-94C1-6C4E-3571-0347EBD16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AEE3F9-0221-EB91-6B1D-539FFA7B5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53F26A-E5F1-5413-9E96-2850E753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B41AD9-F6F4-5F96-7B91-BD253F93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38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D2ECD-EE7D-4B38-1794-14067E0F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E02AA-06E9-0C24-D9A4-2556B94C4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C9B64-FCD8-CA26-24BD-71101873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8582D-077D-C80F-2EC4-2C0BB0430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85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D4F7C7-80A5-698F-2592-CAD0AFA44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F51114-43AA-BD19-FCBD-CD9958675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D3F00-A233-B685-3BB8-99DFD0CE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25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6CD3E-719D-D442-FBDF-078BA0EC3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E0D27-79B5-56F9-F518-275184862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D0633-A874-3B1D-BD27-7678D7B12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9A026-386D-A420-77AE-1D4AA9FF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155EE-18F6-90BC-E583-37E734979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F28DF-31E3-DFEF-5866-F73C3374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76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C3992-E3F4-E71E-3B7D-EEAC0350E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9A547D-FB30-0B04-53CE-78B9D3FBFB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39114-24D5-8A21-30DE-30043AAD3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15EB3-1E97-F01B-2541-6C484312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07287-F4E3-CA9B-18D7-E9507B63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0F1CC-084A-9CB0-AC7A-F6F5B7C89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97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EDEE-A942-D7DE-6BB6-69B8D0597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0AD328-9824-EA53-C602-06BC54F17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61656-7BE2-C47D-FF0B-2EDCEF0DA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F1B19-2B74-2AA5-5762-5D6609699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83A7D-43E3-4BAD-4B63-E79B9D261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8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66341C-CF31-F93A-F906-2AF56F34B1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1F6CC-AD31-9A49-18CA-D10EA9D69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758B4-4A43-D205-6AC3-8D7D5B03D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210CF-D509-DB07-6FCC-E65DEB88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EAC6B-20D5-A75E-645C-4E82BE25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7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5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D3864E-BD99-BBAE-7796-2F5FE048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4B904-9CC7-D5F0-FA46-5431F42FB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F827C-F1D8-6AF2-A793-356F0205E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37702-00D3-48E8-96C0-DBDDB3B8B4E9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8AA8-C89B-5DF4-3D45-19E75E6C8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3BBBE-0B55-3484-8CCC-A7EAC6367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21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28190B-BC82-1370-7393-BAE63F434F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4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E3E002-7256-043D-F368-7EAFFA80B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73529" y="440871"/>
            <a:ext cx="13209815" cy="2030186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Stakeholder’s Summary</a:t>
            </a:r>
            <a:br>
              <a:rPr lang="en-US" sz="4800" dirty="0">
                <a:solidFill>
                  <a:schemeClr val="bg1"/>
                </a:solidFill>
                <a:latin typeface="Copperplate Gothic Bold" panose="020E0705020206020404" pitchFamily="34" charset="0"/>
              </a:rPr>
            </a:br>
            <a:br>
              <a:rPr lang="en-US" sz="4800" dirty="0">
                <a:solidFill>
                  <a:schemeClr val="bg1"/>
                </a:solidFill>
                <a:latin typeface="Copperplate Gothic Bold" panose="020E0705020206020404" pitchFamily="34" charset="0"/>
              </a:rPr>
            </a:br>
            <a:endParaRPr lang="en-US" sz="48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B04081E-AA74-A7E7-14AC-E8A7EA61A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86" y="1722783"/>
            <a:ext cx="10896600" cy="4863074"/>
          </a:xfrm>
        </p:spPr>
        <p:txBody>
          <a:bodyPr/>
          <a:lstStyle/>
          <a:p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Objective: Reduce safety and financial risk in aircraft acquisition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Outcome: Evidence based shortlist of lower risk aircraft models.</a:t>
            </a:r>
          </a:p>
        </p:txBody>
      </p:sp>
    </p:spTree>
    <p:extLst>
      <p:ext uri="{BB962C8B-B14F-4D97-AF65-F5344CB8AC3E}">
        <p14:creationId xmlns:p14="http://schemas.microsoft.com/office/powerpoint/2010/main" val="98761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B8A4-3A39-3D05-E57A-6DA755C99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Business Risk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BE357-5B0F-D709-25F3-8138810AC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3200" dirty="0">
                <a:solidFill>
                  <a:schemeClr val="bg1"/>
                </a:solidFill>
              </a:rPr>
              <a:t>Aircraft purchases involve high capital and long-term exposure.</a:t>
            </a:r>
          </a:p>
          <a:p>
            <a:pPr marL="457200" lvl="1" indent="0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Wrong selection increases safety, insurance, and regulatory risk.</a:t>
            </a: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F6982-8931-170C-29F6-B10A057CFC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4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17737-92BA-BF3C-46ED-CA118952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816429"/>
            <a:ext cx="10515600" cy="75916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Copperplate Gothic Bold" panose="020E0705020206020404" pitchFamily="34" charset="0"/>
                <a:cs typeface="Times New Roman" panose="02020603050405020304" pitchFamily="18" charset="0"/>
              </a:rPr>
              <a:t>Data Foundation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DC022-B1CA-FA68-C930-A3B96D21A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2457"/>
            <a:ext cx="10515600" cy="393450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 years of aviation accident data (1948,1982-2022)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Commercial and private aircrafts are featured</a:t>
            </a:r>
          </a:p>
          <a:p>
            <a:pPr marL="0" indent="0">
              <a:buNone/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U.S.A and international operations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197A01-621C-45E2-8BA2-90BB85DDE5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49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F2B1F-083A-DC9E-515C-A104B0693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9873343" cy="9470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Accidents Safety Trends Over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260797-D547-267B-AB3F-148D4F2431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7057"/>
            <a:ext cx="6966857" cy="591094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EA19C7-3355-C7B8-EE35-2DA818966BBC}"/>
              </a:ext>
            </a:extLst>
          </p:cNvPr>
          <p:cNvSpPr txBox="1"/>
          <p:nvPr/>
        </p:nvSpPr>
        <p:spPr>
          <a:xfrm>
            <a:off x="6966857" y="468086"/>
            <a:ext cx="522514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 Overall aviation safety has improved over time.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Modern aircraft operate under stronger safety </a:t>
            </a:r>
            <a:r>
              <a:rPr lang="en-US" sz="3200" dirty="0" err="1">
                <a:solidFill>
                  <a:schemeClr val="bg1"/>
                </a:solidFill>
              </a:rPr>
              <a:t>standars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0567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0761C-CD8D-A9A7-431C-352DF8330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101" y="0"/>
            <a:ext cx="10823713" cy="111034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Accident Frequency by Aircraft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F0C845-A7FB-DD8C-35EE-5D978BF5D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0344"/>
            <a:ext cx="8311243" cy="574765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0A62A9-5D62-9ACB-D230-62CA8D268227}"/>
              </a:ext>
            </a:extLst>
          </p:cNvPr>
          <p:cNvSpPr txBox="1"/>
          <p:nvPr/>
        </p:nvSpPr>
        <p:spPr>
          <a:xfrm>
            <a:off x="8311243" y="1266766"/>
            <a:ext cx="38807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High accident counts often reflect higher usage.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Frequency alone does not show higher risk</a:t>
            </a:r>
          </a:p>
        </p:txBody>
      </p:sp>
    </p:spTree>
    <p:extLst>
      <p:ext uri="{BB962C8B-B14F-4D97-AF65-F5344CB8AC3E}">
        <p14:creationId xmlns:p14="http://schemas.microsoft.com/office/powerpoint/2010/main" val="1110746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8A511-9064-4621-12A8-566C9D5C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0"/>
            <a:ext cx="12061371" cy="88174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Injury Severity Matters More than Frequency of Accidents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E43892-AE6B-8E7C-5F06-3C2000ACD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1744"/>
            <a:ext cx="8490857" cy="597625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88519-F2BC-ACBF-7136-6D247D9C7440}"/>
              </a:ext>
            </a:extLst>
          </p:cNvPr>
          <p:cNvSpPr txBox="1"/>
          <p:nvPr/>
        </p:nvSpPr>
        <p:spPr>
          <a:xfrm>
            <a:off x="8490857" y="881744"/>
            <a:ext cx="370114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Why injury Severity </a:t>
            </a:r>
            <a:r>
              <a:rPr lang="en-US" sz="3200" dirty="0">
                <a:solidFill>
                  <a:schemeClr val="bg1"/>
                </a:solidFill>
              </a:rPr>
              <a:t>Matters: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Severity determines human and financial impact.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Low risk aircrafts minimizes severe outcomes.</a:t>
            </a:r>
          </a:p>
        </p:txBody>
      </p:sp>
    </p:spTree>
    <p:extLst>
      <p:ext uri="{BB962C8B-B14F-4D97-AF65-F5344CB8AC3E}">
        <p14:creationId xmlns:p14="http://schemas.microsoft.com/office/powerpoint/2010/main" val="1477361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45EED-6FF9-32A6-13DA-19F35A09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15800" cy="56605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Identified Low Risk Aircrafts Models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8E8C60-CAA4-E62E-6738-77E2075DC1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8086"/>
            <a:ext cx="7805056" cy="638991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783832-66B9-28D8-52E1-A4D67719CDF0}"/>
              </a:ext>
            </a:extLst>
          </p:cNvPr>
          <p:cNvSpPr txBox="1"/>
          <p:nvPr/>
        </p:nvSpPr>
        <p:spPr>
          <a:xfrm>
            <a:off x="7805057" y="468086"/>
            <a:ext cx="438694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36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Models selected based on low fatality and severity scores</a:t>
            </a:r>
            <a:r>
              <a:rPr lang="en-US" sz="3600" b="1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Relative severity score, lower is better</a:t>
            </a:r>
          </a:p>
        </p:txBody>
      </p:sp>
    </p:spTree>
    <p:extLst>
      <p:ext uri="{BB962C8B-B14F-4D97-AF65-F5344CB8AC3E}">
        <p14:creationId xmlns:p14="http://schemas.microsoft.com/office/powerpoint/2010/main" val="3917071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07C261-0AD1-DE9B-2ED1-5D88A2FFD3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FF916-5787-8278-F624-F09C9AC8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Business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DB80A-613D-AE50-79EF-6236868BA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Reduced operational risk</a:t>
            </a:r>
          </a:p>
          <a:p>
            <a:r>
              <a:rPr lang="en-US" sz="4000" dirty="0">
                <a:solidFill>
                  <a:schemeClr val="bg1"/>
                </a:solidFill>
              </a:rPr>
              <a:t>Improved insurer confidence</a:t>
            </a:r>
          </a:p>
          <a:p>
            <a:r>
              <a:rPr lang="en-US" sz="4000" dirty="0">
                <a:solidFill>
                  <a:schemeClr val="bg1"/>
                </a:solidFill>
              </a:rPr>
              <a:t>Predictable long term costs</a:t>
            </a:r>
          </a:p>
        </p:txBody>
      </p:sp>
    </p:spTree>
    <p:extLst>
      <p:ext uri="{BB962C8B-B14F-4D97-AF65-F5344CB8AC3E}">
        <p14:creationId xmlns:p14="http://schemas.microsoft.com/office/powerpoint/2010/main" val="133423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F2FAE-C1C4-1AEC-6A55-122CAEFCC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Stakeholder’s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7BF5D-BE62-CDF3-82B9-BE96139E3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Prioritize low severity aircraft models </a:t>
            </a:r>
          </a:p>
          <a:p>
            <a:pPr marL="0" indent="0">
              <a:buNone/>
            </a:pP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Avoid reputation only decisions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Embed safety metrics into procurement</a:t>
            </a:r>
          </a:p>
        </p:txBody>
      </p:sp>
    </p:spTree>
    <p:extLst>
      <p:ext uri="{BB962C8B-B14F-4D97-AF65-F5344CB8AC3E}">
        <p14:creationId xmlns:p14="http://schemas.microsoft.com/office/powerpoint/2010/main" val="656139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C4105-8157-A363-9EF9-51D5D85DD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041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Indicative Low Risk Aircraft Shortlist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A881A-1B70-FD54-C32B-AB3A33F0A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0418"/>
            <a:ext cx="10515600" cy="5156545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Cessna 172</a:t>
            </a:r>
          </a:p>
          <a:p>
            <a:pPr marL="0" indent="0">
              <a:buNone/>
            </a:pP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Cessna 182</a:t>
            </a:r>
          </a:p>
          <a:p>
            <a:pPr marL="0" indent="0">
              <a:buNone/>
            </a:pP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Piper PA-28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Beechcraft Bonanza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Diamond DA40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705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208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Copperplate Gothic Bold</vt:lpstr>
      <vt:lpstr>Times New Roman</vt:lpstr>
      <vt:lpstr>Wingdings</vt:lpstr>
      <vt:lpstr>Office Theme</vt:lpstr>
      <vt:lpstr>Stakeholder’s Summary  </vt:lpstr>
      <vt:lpstr>Business Risk Context</vt:lpstr>
      <vt:lpstr>Data Foundation</vt:lpstr>
      <vt:lpstr>Accidents Safety Trends Over Time</vt:lpstr>
      <vt:lpstr>Accident Frequency by Aircraft Model</vt:lpstr>
      <vt:lpstr>Injury Severity Matters More than Frequency of Accidents</vt:lpstr>
      <vt:lpstr>Identified Low Risk Aircrafts Models</vt:lpstr>
      <vt:lpstr>Business Value</vt:lpstr>
      <vt:lpstr>Stakeholder’s Recommendations</vt:lpstr>
      <vt:lpstr>Indicative Low Risk Aircraft Shortlist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9</cp:revision>
  <dcterms:created xsi:type="dcterms:W3CDTF">2025-12-12T13:15:31Z</dcterms:created>
  <dcterms:modified xsi:type="dcterms:W3CDTF">2025-12-18T05:50:06Z</dcterms:modified>
</cp:coreProperties>
</file>