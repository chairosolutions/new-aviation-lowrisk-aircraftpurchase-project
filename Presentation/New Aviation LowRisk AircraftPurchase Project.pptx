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691BEDA-5735-4304-AF56-8F2D4FA614E8}">
          <p14:sldIdLst>
            <p14:sldId id="256"/>
            <p14:sldId id="258"/>
            <p14:sldId id="257"/>
            <p14:sldId id="259"/>
          </p14:sldIdLst>
        </p14:section>
        <p14:section name="Data Manipulation,Cleaning,EDA @ Reporting" id="{2CF09281-575C-4316-BC3E-AEB64C18ABDF}">
          <p14:sldIdLst>
            <p14:sldId id="260"/>
            <p14:sldId id="261"/>
            <p14:sldId id="262"/>
            <p14:sldId id="263"/>
            <p14:sldId id="264"/>
          </p14:sldIdLst>
        </p14:section>
        <p14:section name="Reccomendation and Summary" id="{5CE6F034-4E8B-493F-8AD7-9E873603CC21}">
          <p14:sldIdLst>
            <p14:sldId id="265"/>
            <p14:sldId id="266"/>
            <p14:sldId id="267"/>
            <p14:sldId id="268"/>
            <p14:sldId id="269"/>
          </p14:sldIdLst>
        </p14:section>
        <p14:section name="Results" id="{901FFA06-33CF-4DE5-A278-0CE7C41CE424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BE7"/>
    <a:srgbClr val="B6B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60" y="464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5FD0F-2D8B-9943-44CB-41A8B47A7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068224-C7D8-FD40-D730-817B526DC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CCA33-335A-74E3-2DEB-F48957EE1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7702-00D3-48E8-96C0-DBDDB3B8B4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92850-4521-764C-6D01-2BCF11602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801FC-4C46-2111-F51B-572BD6C9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2745-E1F6-4330-937B-BDFC1E814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672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2D166-87BA-2C5C-6B04-55EBF0851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C6C75-FF56-1931-B055-342D1C55E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894BB-3C7A-EFC1-01B7-453307AD1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7702-00D3-48E8-96C0-DBDDB3B8B4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22782-231F-2D77-C79C-EB2B7DADA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272AC-22DF-EA41-001D-BAA9AF672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2745-E1F6-4330-937B-BDFC1E814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252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6DFBC-D59C-0FCA-8F4D-3F491D37D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3DD-84CF-5B7C-EE98-72D9C02F5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D3BF3-19C4-6F6C-7510-6D95928B3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7702-00D3-48E8-96C0-DBDDB3B8B4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41C94-4081-37EB-7B7C-53E25F8A1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D6C57-998B-3AF8-6E1E-6C4018C56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2745-E1F6-4330-937B-BDFC1E814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088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CF659-1004-53BF-FA88-3D33D1316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EA792-DE26-F8AB-7288-5DB65C4E3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68519-89B2-8B8D-6A7F-878BBA8B4C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8A858-FC66-8E52-A20F-29FC36A46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7702-00D3-48E8-96C0-DBDDB3B8B4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C7F92-5A59-D714-A8D0-B92734480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48B52F-0D3F-D81F-3FA1-F0560AEF0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2745-E1F6-4330-937B-BDFC1E814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634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46A5C-193B-231F-2F30-A3E34E707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C4FB7-F80B-A3B0-45D5-730E66D35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F719D-31FC-195A-1A7D-49AC8BDEE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4ED480-2961-E2F8-EAC3-BA268E7C4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C79F76-94C1-6C4E-3571-0347EBD16E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AEE3F9-0221-EB91-6B1D-539FFA7B5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7702-00D3-48E8-96C0-DBDDB3B8B4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53F26A-E5F1-5413-9E96-2850E7536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B41AD9-F6F4-5F96-7B91-BD253F93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2745-E1F6-4330-937B-BDFC1E814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38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D2ECD-EE7D-4B38-1794-14067E0FF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4E02AA-06E9-0C24-D9A4-2556B94C4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7702-00D3-48E8-96C0-DBDDB3B8B4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AC9B64-FCD8-CA26-24BD-71101873B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88582D-077D-C80F-2EC4-2C0BB0430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2745-E1F6-4330-937B-BDFC1E814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85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D4F7C7-80A5-698F-2592-CAD0AFA44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7702-00D3-48E8-96C0-DBDDB3B8B4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F51114-43AA-BD19-FCBD-CD9958675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D3F00-A233-B685-3BB8-99DFD0CE9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2745-E1F6-4330-937B-BDFC1E814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25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6CD3E-719D-D442-FBDF-078BA0EC3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E0D27-79B5-56F9-F518-275184862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D0633-A874-3B1D-BD27-7678D7B12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9A026-386D-A420-77AE-1D4AA9FF6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7702-00D3-48E8-96C0-DBDDB3B8B4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155EE-18F6-90BC-E583-37E734979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F28DF-31E3-DFEF-5866-F73C33746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2745-E1F6-4330-937B-BDFC1E814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76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C3992-E3F4-E71E-3B7D-EEAC0350E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9A547D-FB30-0B04-53CE-78B9D3FBFB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39114-24D5-8A21-30DE-30043AAD3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15EB3-1E97-F01B-2541-6C4843121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7702-00D3-48E8-96C0-DBDDB3B8B4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E07287-F4E3-CA9B-18D7-E9507B63A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0F1CC-084A-9CB0-AC7A-F6F5B7C89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2745-E1F6-4330-937B-BDFC1E814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497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0EDEE-A942-D7DE-6BB6-69B8D0597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0AD328-9824-EA53-C602-06BC54F17A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61656-7BE2-C47D-FF0B-2EDCEF0DA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7702-00D3-48E8-96C0-DBDDB3B8B4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F1B19-2B74-2AA5-5762-5D6609699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83A7D-43E3-4BAD-4B63-E79B9D261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2745-E1F6-4330-937B-BDFC1E814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8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66341C-CF31-F93A-F906-2AF56F34B1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1F6CC-AD31-9A49-18CA-D10EA9D69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758B4-4A43-D205-6AC3-8D7D5B03D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37702-00D3-48E8-96C0-DBDDB3B8B4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210CF-D509-DB07-6FCC-E65DEB88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EAC6B-20D5-A75E-645C-4E82BE25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2745-E1F6-4330-937B-BDFC1E814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75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5B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D3864E-BD99-BBAE-7796-2F5FE048C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4B904-9CC7-D5F0-FA46-5431F42FB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F827C-F1D8-6AF2-A793-356F0205E3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37702-00D3-48E8-96C0-DBDDB3B8B4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8AA8-C89B-5DF4-3D45-19E75E6C8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3BBBE-0B55-3484-8CCC-A7EAC63679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22745-E1F6-4330-937B-BDFC1E814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321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928190B-BC82-1370-7393-BAE63F434F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accent1">
                <a:shade val="15000"/>
                <a:alpha val="4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E3E002-7256-043D-F368-7EAFFA80B2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8314" y="87086"/>
            <a:ext cx="9361714" cy="2383971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solidFill>
                  <a:schemeClr val="bg1"/>
                </a:solidFill>
                <a:latin typeface="Copperplate Gothic Bold" panose="020E0705020206020404" pitchFamily="34" charset="0"/>
              </a:rPr>
              <a:t>New Aviation Low Risk Aircraft Purchase Project</a:t>
            </a:r>
            <a:br>
              <a:rPr lang="en-US" sz="4800" dirty="0">
                <a:solidFill>
                  <a:schemeClr val="bg1"/>
                </a:solidFill>
                <a:latin typeface="Copperplate Gothic Bold" panose="020E0705020206020404" pitchFamily="34" charset="0"/>
              </a:rPr>
            </a:br>
            <a:br>
              <a:rPr lang="en-US" sz="4800" dirty="0">
                <a:solidFill>
                  <a:schemeClr val="bg1"/>
                </a:solidFill>
                <a:latin typeface="Copperplate Gothic Bold" panose="020E0705020206020404" pitchFamily="34" charset="0"/>
              </a:rPr>
            </a:br>
            <a:endParaRPr lang="en-US" sz="4800" dirty="0">
              <a:solidFill>
                <a:schemeClr val="bg1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B04081E-AA74-A7E7-14AC-E8A7EA61A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086" y="1722783"/>
            <a:ext cx="10896600" cy="486307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Identify Low Risk Aircraft for Commercial and Private Enterprise</a:t>
            </a:r>
          </a:p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Aviation Safety and Risk Analysis</a:t>
            </a:r>
          </a:p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2025</a:t>
            </a:r>
          </a:p>
          <a:p>
            <a:pPr algn="l"/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This project focuses on reducing operational and safety risk when purchasing aircraft </a:t>
            </a:r>
            <a:r>
              <a:rPr lang="en-US" dirty="0" err="1">
                <a:solidFill>
                  <a:schemeClr val="bg1"/>
                </a:solidFill>
                <a:latin typeface="Arial Black" panose="020B0A04020102020204" pitchFamily="34" charset="0"/>
              </a:rPr>
              <a:t>inorder</a:t>
            </a: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 to make a calculated decision when purchasing an aircraft,  by learning from decades of aviation accident history.</a:t>
            </a:r>
          </a:p>
          <a:p>
            <a:pPr algn="l"/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Prepared by </a:t>
            </a:r>
            <a:r>
              <a:rPr lang="en-US" dirty="0" err="1">
                <a:solidFill>
                  <a:schemeClr val="bg1"/>
                </a:solidFill>
                <a:latin typeface="Arial Black" panose="020B0A04020102020204" pitchFamily="34" charset="0"/>
              </a:rPr>
              <a:t>Brian.M.Chairo</a:t>
            </a:r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61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FB8A4-3A39-3D05-E57A-6DA755C99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BE357-5B0F-D709-25F3-8138810AC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>
                <a:solidFill>
                  <a:schemeClr val="bg1"/>
                </a:solidFill>
              </a:rPr>
              <a:t>Identify aircrafts models with : 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Low accident frequency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Low injury severity 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Consistent operational safety in different types of flights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Support low risk purchase of aircrafts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Provide interactive dashboards for case study analysis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bg1"/>
                </a:solidFill>
              </a:rPr>
              <a:t>I focus on patterns over time rather than isolated incidents, to identify the best aircraft models to be bought.</a:t>
            </a:r>
          </a:p>
          <a:p>
            <a:pPr marL="457200" lvl="1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AF6982-8931-170C-29F6-B10A057CFC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843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17737-92BA-BF3C-46ED-CA118952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82" y="816429"/>
            <a:ext cx="10515600" cy="75916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Aviation Division: Leveraging Aviation Accident Analysis for a Safe and Successful Purchase and Operations of Commercial and Private Air Fleet.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DC022-B1CA-FA68-C930-A3B96D21A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2457"/>
            <a:ext cx="10515600" cy="393450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Purchasing Aircrafts involves high starting capital and safety risk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 uninformed aircraft choices may lead to:   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loss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Non-compliance with prevailing national laws for aircraft registration and operation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Reputational loss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financing and insurance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Unexpected operating costs.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New Aviation Division require evidence based guidance not assumptions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to be able to minimize risk when purchasing new aircrafts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197A01-621C-45E2-8BA2-90BB85DDE5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649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6E5EE-9992-C061-40E6-7F3772314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AviationData_csv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95C9F-63D7-2D75-6EE0-99CA6F0A9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Contents of the </a:t>
            </a:r>
            <a:r>
              <a:rPr lang="en-US" dirty="0" err="1">
                <a:solidFill>
                  <a:schemeClr val="bg1"/>
                </a:solidFill>
              </a:rPr>
              <a:t>AviationData</a:t>
            </a:r>
            <a:r>
              <a:rPr lang="en-US" dirty="0">
                <a:solidFill>
                  <a:schemeClr val="bg1"/>
                </a:solidFill>
              </a:rPr>
              <a:t> used:</a:t>
            </a:r>
          </a:p>
          <a:p>
            <a:r>
              <a:rPr lang="en-US" dirty="0">
                <a:solidFill>
                  <a:schemeClr val="bg1"/>
                </a:solidFill>
              </a:rPr>
              <a:t>Civil aviation accident records</a:t>
            </a:r>
          </a:p>
          <a:p>
            <a:r>
              <a:rPr lang="en-US" dirty="0">
                <a:solidFill>
                  <a:schemeClr val="bg1"/>
                </a:solidFill>
              </a:rPr>
              <a:t>Between 1962-2023 and 1948</a:t>
            </a:r>
          </a:p>
          <a:p>
            <a:r>
              <a:rPr lang="en-US" dirty="0">
                <a:solidFill>
                  <a:schemeClr val="bg1"/>
                </a:solidFill>
              </a:rPr>
              <a:t>Coverage: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U.S.A AND International waters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Commercial and private aircraft</a:t>
            </a:r>
          </a:p>
          <a:p>
            <a:r>
              <a:rPr lang="en-US" dirty="0">
                <a:solidFill>
                  <a:schemeClr val="bg1"/>
                </a:solidFill>
              </a:rPr>
              <a:t>Each record represents one reported aviation accident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This dataset allows me to evaluate long term safety trends across aircraft models.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813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083EC-BF25-C40B-69DC-66DA2BBA1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Data Manipulation(preparation)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0F23A-D189-7F38-3273-9E1994448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How the data was prepared:</a:t>
            </a:r>
          </a:p>
          <a:p>
            <a:r>
              <a:rPr lang="en-US" b="1" dirty="0">
                <a:solidFill>
                  <a:schemeClr val="bg1"/>
                </a:solidFill>
              </a:rPr>
              <a:t>Remove incomplete or irrelevant fields</a:t>
            </a:r>
          </a:p>
          <a:p>
            <a:r>
              <a:rPr lang="en-US" b="1" dirty="0">
                <a:solidFill>
                  <a:schemeClr val="bg1"/>
                </a:solidFill>
              </a:rPr>
              <a:t>Standardized column names</a:t>
            </a:r>
          </a:p>
          <a:p>
            <a:r>
              <a:rPr lang="en-US" b="1" dirty="0">
                <a:solidFill>
                  <a:schemeClr val="bg1"/>
                </a:solidFill>
              </a:rPr>
              <a:t>Converted date for trend analysis</a:t>
            </a:r>
          </a:p>
          <a:p>
            <a:r>
              <a:rPr lang="en-US" b="1" dirty="0">
                <a:solidFill>
                  <a:schemeClr val="bg1"/>
                </a:solidFill>
              </a:rPr>
              <a:t>Created safety indicators: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Accident frequency per year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Fatality rate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Severity rate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The safety indicators ensures results are reliable and comparable across aircraft models.</a:t>
            </a:r>
          </a:p>
        </p:txBody>
      </p:sp>
    </p:spTree>
    <p:extLst>
      <p:ext uri="{BB962C8B-B14F-4D97-AF65-F5344CB8AC3E}">
        <p14:creationId xmlns:p14="http://schemas.microsoft.com/office/powerpoint/2010/main" val="937670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F2B1F-083A-DC9E-515C-A104B0693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776"/>
            <a:ext cx="9046029" cy="23522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Accidents Trends Over Time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260797-D547-267B-AB3F-148D4F2431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5171"/>
            <a:ext cx="6966857" cy="630282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EA19C7-3355-C7B8-EE35-2DA818966BBC}"/>
              </a:ext>
            </a:extLst>
          </p:cNvPr>
          <p:cNvSpPr txBox="1"/>
          <p:nvPr/>
        </p:nvSpPr>
        <p:spPr>
          <a:xfrm>
            <a:off x="6966857" y="468086"/>
            <a:ext cx="522514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Key Observations: Accident Trends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Accident reporting increased significantly after 1980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Overall trends shows: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Improved safety standards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Better reporting practices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Modern aviation operates under </a:t>
            </a:r>
            <a:r>
              <a:rPr lang="en-US" sz="2000" dirty="0" err="1">
                <a:solidFill>
                  <a:schemeClr val="bg1"/>
                </a:solidFill>
              </a:rPr>
              <a:t>strictier</a:t>
            </a:r>
            <a:r>
              <a:rPr lang="en-US" sz="2000" dirty="0">
                <a:solidFill>
                  <a:schemeClr val="bg1"/>
                </a:solidFill>
              </a:rPr>
              <a:t> safety controls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Here I have interpreted the historical risk</a:t>
            </a:r>
          </a:p>
        </p:txBody>
      </p:sp>
    </p:spTree>
    <p:extLst>
      <p:ext uri="{BB962C8B-B14F-4D97-AF65-F5344CB8AC3E}">
        <p14:creationId xmlns:p14="http://schemas.microsoft.com/office/powerpoint/2010/main" val="1590567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0761C-CD8D-A9A7-431C-352DF8330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087" y="0"/>
            <a:ext cx="10823713" cy="6626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Accident Frequency by Aircraft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F0C845-A7FB-DD8C-35EE-5D978BF5D0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2514"/>
            <a:ext cx="7836535" cy="633548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0A62A9-5D62-9ACB-D230-62CA8D268227}"/>
              </a:ext>
            </a:extLst>
          </p:cNvPr>
          <p:cNvSpPr txBox="1"/>
          <p:nvPr/>
        </p:nvSpPr>
        <p:spPr>
          <a:xfrm>
            <a:off x="7836535" y="662608"/>
            <a:ext cx="435546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What I Observed: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Some aircraft models appear more frequently in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Higher frequency often reflects: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Greater usage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Longer operational history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High frequency alone does not imply high risk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The fact that some aircrafts are used more often than other models makes it important to </a:t>
            </a:r>
            <a:r>
              <a:rPr lang="en-US" sz="2000" b="1" dirty="0" err="1">
                <a:solidFill>
                  <a:schemeClr val="bg1"/>
                </a:solidFill>
              </a:rPr>
              <a:t>analyse</a:t>
            </a:r>
            <a:r>
              <a:rPr lang="en-US" sz="2000" b="1" dirty="0">
                <a:solidFill>
                  <a:schemeClr val="bg1"/>
                </a:solidFill>
              </a:rPr>
              <a:t> severity of accidents to make informed decision on the risk.</a:t>
            </a:r>
          </a:p>
        </p:txBody>
      </p:sp>
    </p:spTree>
    <p:extLst>
      <p:ext uri="{BB962C8B-B14F-4D97-AF65-F5344CB8AC3E}">
        <p14:creationId xmlns:p14="http://schemas.microsoft.com/office/powerpoint/2010/main" val="1110746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8A511-9064-4621-12A8-566C9D5CC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9" y="1"/>
            <a:ext cx="12061371" cy="762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Injury Severity Matters More than Frequency of Accidents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E43892-AE6B-8E7C-5F06-3C2000ACD5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7830"/>
            <a:ext cx="7836535" cy="627016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88519-F2BC-ACBF-7136-6D247D9C7440}"/>
              </a:ext>
            </a:extLst>
          </p:cNvPr>
          <p:cNvSpPr txBox="1"/>
          <p:nvPr/>
        </p:nvSpPr>
        <p:spPr>
          <a:xfrm>
            <a:off x="7836535" y="587830"/>
            <a:ext cx="435546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Why Severity was prioritized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Not all accident result in serious harm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 evaluated: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Fatal injuries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Serious injuries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Minor injuries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Developed a severity score to compare impact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Low risk aircrafts are those with lower injury outcomes when the accidents </a:t>
            </a:r>
            <a:r>
              <a:rPr lang="en-US" sz="2000" dirty="0" err="1">
                <a:solidFill>
                  <a:schemeClr val="bg1"/>
                </a:solidFill>
              </a:rPr>
              <a:t>occured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7361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45EED-6FF9-32A6-13DA-19F35A09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15800" cy="56605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Low Risk Aircrafts Models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8E8C60-CAA4-E62E-6738-77E2075DC1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68086"/>
            <a:ext cx="7805056" cy="638991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783832-66B9-28D8-52E1-A4D67719CDF0}"/>
              </a:ext>
            </a:extLst>
          </p:cNvPr>
          <p:cNvSpPr txBox="1"/>
          <p:nvPr/>
        </p:nvSpPr>
        <p:spPr>
          <a:xfrm>
            <a:off x="7805057" y="468086"/>
            <a:ext cx="4386941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Low Risk Aircraft Models Identified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Selected models show: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Multiple recorded accidents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Zero to Near zero fatalities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Consistently low severity scores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These models demonstrate strong safety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The displayed models show safer investment options based on historical evidence.</a:t>
            </a:r>
          </a:p>
        </p:txBody>
      </p:sp>
    </p:spTree>
    <p:extLst>
      <p:ext uri="{BB962C8B-B14F-4D97-AF65-F5344CB8AC3E}">
        <p14:creationId xmlns:p14="http://schemas.microsoft.com/office/powerpoint/2010/main" val="3917071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F2FAE-C1C4-1AEC-6A55-122CAEFCC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Interactive Dashboard for the New Aviation Division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7BF5D-BE62-CDF3-82B9-BE96139E3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To support deeper exploration of the </a:t>
            </a:r>
            <a:r>
              <a:rPr lang="en-US" dirty="0" err="1">
                <a:solidFill>
                  <a:schemeClr val="bg1"/>
                </a:solidFill>
              </a:rPr>
              <a:t>findiings</a:t>
            </a:r>
            <a:r>
              <a:rPr lang="en-US" dirty="0">
                <a:solidFill>
                  <a:schemeClr val="bg1"/>
                </a:solidFill>
              </a:rPr>
              <a:t>, an interactive dashboard has been developed in Tableau.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This dashboard will allow the New Aviation Division to:</a:t>
            </a:r>
          </a:p>
          <a:p>
            <a:r>
              <a:rPr lang="en-US" dirty="0">
                <a:solidFill>
                  <a:schemeClr val="bg1"/>
                </a:solidFill>
              </a:rPr>
              <a:t>Explore accidents trend over time</a:t>
            </a:r>
          </a:p>
          <a:p>
            <a:r>
              <a:rPr lang="en-US" dirty="0">
                <a:solidFill>
                  <a:schemeClr val="bg1"/>
                </a:solidFill>
              </a:rPr>
              <a:t>Compare aircraft models by risk and severity</a:t>
            </a:r>
          </a:p>
          <a:p>
            <a:r>
              <a:rPr lang="en-US" dirty="0">
                <a:solidFill>
                  <a:schemeClr val="bg1"/>
                </a:solidFill>
              </a:rPr>
              <a:t>Filter results by aircraft type and operational factors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Access the live dashboard here:</a:t>
            </a:r>
          </a:p>
          <a:p>
            <a:pPr marL="0" indent="0">
              <a:buNone/>
            </a:pPr>
            <a:r>
              <a:rPr lang="en-US" dirty="0">
                <a:solidFill>
                  <a:srgbClr val="92D050"/>
                </a:solidFill>
              </a:rPr>
              <a:t>https://public.tableau.com/app/profile/brian.chairo/viz/New-Aviation-LowRisk-AircraftPurchase-Project-InteractiveDashboard/LowRiskAircraftDashboard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139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C4105-8157-A363-9EF9-51D5D85DD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20418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What this means to the New Aviation Division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A881A-1B70-FD54-C32B-AB3A33F0A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0418"/>
            <a:ext cx="10515600" cy="515654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Data supports: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Reduced operational risk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Better capital allocation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Informed aircraft acquisition</a:t>
            </a:r>
          </a:p>
          <a:p>
            <a:r>
              <a:rPr lang="en-US" dirty="0">
                <a:solidFill>
                  <a:schemeClr val="bg1"/>
                </a:solidFill>
              </a:rPr>
              <a:t>Transforms purchasing decisions from intuition to insight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This approach aligns safely with financial sustainability.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6705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62D79-00AD-C5E7-BB82-7A0C4BD74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Limitations &amp;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FA965-027B-F13B-E84D-CB66EAF3F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Important Considerations</a:t>
            </a:r>
          </a:p>
          <a:p>
            <a:r>
              <a:rPr lang="en-US" b="1" dirty="0">
                <a:solidFill>
                  <a:schemeClr val="bg1"/>
                </a:solidFill>
              </a:rPr>
              <a:t>Accident data does not include: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Total flight hours per model</a:t>
            </a:r>
          </a:p>
          <a:p>
            <a:pPr lvl="1"/>
            <a:r>
              <a:rPr lang="en-US" b="1" dirty="0" err="1">
                <a:solidFill>
                  <a:schemeClr val="bg1"/>
                </a:solidFill>
              </a:rPr>
              <a:t>Maintainance</a:t>
            </a:r>
            <a:r>
              <a:rPr lang="en-US" b="1" dirty="0">
                <a:solidFill>
                  <a:schemeClr val="bg1"/>
                </a:solidFill>
              </a:rPr>
              <a:t> records</a:t>
            </a:r>
          </a:p>
          <a:p>
            <a:r>
              <a:rPr lang="en-US" b="1" dirty="0">
                <a:solidFill>
                  <a:schemeClr val="bg1"/>
                </a:solidFill>
              </a:rPr>
              <a:t>Result should compliment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Manufacturers guidance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Regulatory </a:t>
            </a:r>
            <a:r>
              <a:rPr lang="en-US" b="1" dirty="0" err="1">
                <a:solidFill>
                  <a:schemeClr val="bg1"/>
                </a:solidFill>
              </a:rPr>
              <a:t>assesments</a:t>
            </a:r>
            <a:endParaRPr lang="en-US" b="1" dirty="0">
              <a:solidFill>
                <a:schemeClr val="bg1"/>
              </a:solidFill>
            </a:endParaRP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Operational requirements</a:t>
            </a:r>
          </a:p>
          <a:p>
            <a:pPr lvl="1"/>
            <a:endParaRPr lang="en-U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This analysis informs decisions it however does not replace due diligence</a:t>
            </a:r>
          </a:p>
          <a:p>
            <a:pPr lvl="1"/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427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8EA96-13A3-B727-73E1-18F2DE778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EED7F-9D23-CF91-25BE-018F0DA44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3426"/>
            <a:ext cx="10515600" cy="510353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Strategic:</a:t>
            </a:r>
          </a:p>
          <a:p>
            <a:r>
              <a:rPr lang="en-US" dirty="0">
                <a:solidFill>
                  <a:schemeClr val="bg1"/>
                </a:solidFill>
              </a:rPr>
              <a:t>Prioritize aircraft with: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Low injury severity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Stable historical performance</a:t>
            </a:r>
          </a:p>
          <a:p>
            <a:r>
              <a:rPr lang="en-US" dirty="0">
                <a:solidFill>
                  <a:schemeClr val="bg1"/>
                </a:solidFill>
              </a:rPr>
              <a:t>Avoid decision based on anecdotal safety perception</a:t>
            </a:r>
          </a:p>
          <a:p>
            <a:r>
              <a:rPr lang="en-US" dirty="0">
                <a:solidFill>
                  <a:schemeClr val="bg1"/>
                </a:solidFill>
              </a:rPr>
              <a:t>Integrate severity based metrics into procurement policy for the New Aviation Division</a:t>
            </a:r>
          </a:p>
          <a:p>
            <a:r>
              <a:rPr lang="en-US" dirty="0">
                <a:solidFill>
                  <a:schemeClr val="bg1"/>
                </a:solidFill>
              </a:rPr>
              <a:t>Use dashboard during: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Purchase planning</a:t>
            </a: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Continous</a:t>
            </a:r>
            <a:r>
              <a:rPr lang="en-US">
                <a:solidFill>
                  <a:schemeClr val="bg1"/>
                </a:solidFill>
              </a:rPr>
              <a:t> risk </a:t>
            </a:r>
            <a:r>
              <a:rPr lang="en-US" dirty="0">
                <a:solidFill>
                  <a:schemeClr val="bg1"/>
                </a:solidFill>
              </a:rPr>
              <a:t>reassessment reviews</a:t>
            </a:r>
          </a:p>
          <a:p>
            <a:r>
              <a:rPr lang="en-US" dirty="0">
                <a:solidFill>
                  <a:schemeClr val="bg1"/>
                </a:solidFill>
              </a:rPr>
              <a:t>Update analysis as new data becomes available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This framework is subject to evolve alongside the New Aviation Division</a:t>
            </a:r>
          </a:p>
        </p:txBody>
      </p:sp>
    </p:spTree>
    <p:extLst>
      <p:ext uri="{BB962C8B-B14F-4D97-AF65-F5344CB8AC3E}">
        <p14:creationId xmlns:p14="http://schemas.microsoft.com/office/powerpoint/2010/main" val="132692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0A359-654D-2055-1946-15E876A6C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" y="1"/>
            <a:ext cx="12099235" cy="106017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95DED-8699-5EE0-651E-B84E539FC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65"/>
            <a:ext cx="10515600" cy="486499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Final Takeaway</a:t>
            </a:r>
          </a:p>
          <a:p>
            <a:r>
              <a:rPr lang="en-US" b="1" dirty="0">
                <a:solidFill>
                  <a:schemeClr val="bg1"/>
                </a:solidFill>
              </a:rPr>
              <a:t>Historical safety data provides powerful insights</a:t>
            </a:r>
          </a:p>
          <a:p>
            <a:r>
              <a:rPr lang="en-US" b="1" dirty="0">
                <a:solidFill>
                  <a:schemeClr val="bg1"/>
                </a:solidFill>
              </a:rPr>
              <a:t>Low risk aircraft can be identified objectively</a:t>
            </a:r>
          </a:p>
          <a:p>
            <a:r>
              <a:rPr lang="en-US" b="1" dirty="0">
                <a:solidFill>
                  <a:schemeClr val="bg1"/>
                </a:solidFill>
              </a:rPr>
              <a:t>Data driven purchases reduces </a:t>
            </a:r>
            <a:r>
              <a:rPr lang="en-US" b="1" dirty="0" err="1">
                <a:solidFill>
                  <a:schemeClr val="bg1"/>
                </a:solidFill>
              </a:rPr>
              <a:t>uncertainity</a:t>
            </a:r>
            <a:r>
              <a:rPr lang="en-US" b="1" dirty="0">
                <a:solidFill>
                  <a:schemeClr val="bg1"/>
                </a:solidFill>
              </a:rPr>
              <a:t> and risk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This risk analysis demonstrates how analytics can directly support strategic </a:t>
            </a:r>
            <a:r>
              <a:rPr lang="en-US" b="1">
                <a:solidFill>
                  <a:schemeClr val="bg1"/>
                </a:solidFill>
              </a:rPr>
              <a:t>investment decisions.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27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0D89B-C4B5-88E2-F581-FFD2CB55A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Indicative Low Risk Aircraft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8E287-FB69-E351-35EA-DA312393E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The following models demonstrate: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Repeated historical operation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Very low fatality rates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Low injury severity scores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Sufficient accidents report to support confidence in results.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Shortlisted Aircrafts: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</a:rPr>
              <a:t>A300/ A300-600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</a:rPr>
              <a:t>A320-214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</a:rPr>
              <a:t>737-300 / 737-800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</a:rPr>
              <a:t>DC-10-40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</a:rPr>
              <a:t>ATR-72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</a:rPr>
              <a:t>DHC-2 MK. I (120A)</a:t>
            </a:r>
          </a:p>
        </p:txBody>
      </p:sp>
    </p:spTree>
    <p:extLst>
      <p:ext uri="{BB962C8B-B14F-4D97-AF65-F5344CB8AC3E}">
        <p14:creationId xmlns:p14="http://schemas.microsoft.com/office/powerpoint/2010/main" val="1608679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795</Words>
  <Application>Microsoft Office PowerPoint</Application>
  <PresentationFormat>Widescreen</PresentationFormat>
  <Paragraphs>153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Copperplate Gothic Bold</vt:lpstr>
      <vt:lpstr>Times New Roman</vt:lpstr>
      <vt:lpstr>Wingdings</vt:lpstr>
      <vt:lpstr>Office Theme</vt:lpstr>
      <vt:lpstr>New Aviation Low Risk Aircraft Purchase Project  </vt:lpstr>
      <vt:lpstr>Project Objectives</vt:lpstr>
      <vt:lpstr>New Aviation Division: Leveraging Aviation Accident Analysis for a Safe and Successful Purchase and Operations of Commercial and Private Air Fleet.</vt:lpstr>
      <vt:lpstr>AviationData_csv</vt:lpstr>
      <vt:lpstr>Data Manipulation(preparation)</vt:lpstr>
      <vt:lpstr>Accidents Trends Over Time</vt:lpstr>
      <vt:lpstr>Accident Frequency by Aircraft Model</vt:lpstr>
      <vt:lpstr>Injury Severity Matters More than Frequency of Accidents</vt:lpstr>
      <vt:lpstr>Low Risk Aircrafts Models</vt:lpstr>
      <vt:lpstr>Interactive Dashboard for the New Aviation Division</vt:lpstr>
      <vt:lpstr>What this means to the New Aviation Division</vt:lpstr>
      <vt:lpstr>Limitations &amp; Considerations</vt:lpstr>
      <vt:lpstr>Recommendations</vt:lpstr>
      <vt:lpstr>Conclusion</vt:lpstr>
      <vt:lpstr>Indicative Low Risk Aircraft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7</cp:revision>
  <dcterms:created xsi:type="dcterms:W3CDTF">2025-12-12T13:15:31Z</dcterms:created>
  <dcterms:modified xsi:type="dcterms:W3CDTF">2025-12-15T01:36:11Z</dcterms:modified>
</cp:coreProperties>
</file>